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ejaVu Sans Light" charset="1" panose="020B0603030804020204"/>
      <p:regular r:id="rId19"/>
    </p:embeddedFont>
    <p:embeddedFont>
      <p:font typeface="DejaVu Sans Bold" charset="1" panose="020B08030306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Source: supplied minor_project_ppt_final(1).pptx. This deck reports prototype implementation and internal results, not independent clinical validation. Mentor name and designation come from the original title slide. Team names and roll-number placeholders follow the current request.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 References: Shang et al., GAMENet, AAAI 2019, https://arxiv.org/abs/1809.01852. Yang et al., SafeDrug, IJCAI 2021, https://www.ijcai.org/proceedings/2021/514.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 Sources: https://physionet.org/content/mimiciv/3.0/ ; https://physionet.org/content/eicu-crd/2.0/ ; TwoSIDES repository referenced in the research plan: https://github.com/jcsun-00/Twosides. Dataset intersection refers to medicine identifiers, not patient records. Missing interaction evidence does not establish safety.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 Sources: https://physionet.org/content/mimiciv/3.0/ ; https://physionet.org/content/eicu-crd/2.0/ ; TwoSIDES repository referenced in the research plan: https://github.com/jcsun-00/Twosides. Dataset intersection refers to medicine identifiers, not patient records. Missing interaction evidence does not establish safety.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Major project proposal. Methods, experiments and deliverables describe planned work. Recommendations require clinician review.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50140" y="3182470"/>
            <a:ext cx="2673419" cy="2921286"/>
          </a:xfrm>
          <a:custGeom>
            <a:avLst/>
            <a:gdLst/>
            <a:ahLst/>
            <a:cxnLst/>
            <a:rect r="r" b="b" t="t" l="l"/>
            <a:pathLst>
              <a:path h="2921286" w="2673419">
                <a:moveTo>
                  <a:pt x="0" y="0"/>
                </a:moveTo>
                <a:lnTo>
                  <a:pt x="2673420" y="0"/>
                </a:lnTo>
                <a:lnTo>
                  <a:pt x="2673420" y="2921286"/>
                </a:lnTo>
                <a:lnTo>
                  <a:pt x="0" y="2921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73500" y="9463087"/>
            <a:ext cx="78581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5850" y="523875"/>
            <a:ext cx="1357312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MAJOR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5850" y="1119188"/>
            <a:ext cx="161163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AI based Intelligent optimised</a:t>
            </a:r>
          </a:p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medicine prescription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5850" y="6291263"/>
            <a:ext cx="161163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Dr B R Ambedkar National Institute of Technology Jalandhar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37809"/>
            <a:ext cx="3000375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Manjushwar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Tarun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Lalit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Harshit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29075" y="7437809"/>
            <a:ext cx="571500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Roll No. 23117020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Roll No. 23103152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Roll No. 23103083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Roll No. 23117014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58600" y="7305675"/>
            <a:ext cx="600075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837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Under the supervision of</a:t>
            </a:r>
          </a:p>
          <a:p>
            <a:pPr algn="l">
              <a:lnSpc>
                <a:spcPts val="3405"/>
              </a:lnSpc>
            </a:pPr>
            <a:r>
              <a:rPr lang="en-US" sz="2837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Dr. Armaan Garg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58600" y="8212931"/>
            <a:ext cx="60007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Assistant Professor</a:t>
            </a:r>
          </a:p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Department of Computer Science</a:t>
            </a:r>
          </a:p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09638"/>
            <a:ext cx="1611630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Problem statement and motivation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5850" y="2457450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Multiple medicines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5850" y="3148013"/>
            <a:ext cx="74295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Patients with several conditions may receive overlapping medicines. A recommendation system should consider therapeutic relevance and unnecessary drug burden.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2650" y="2457450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Drug interactions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2650" y="3148013"/>
            <a:ext cx="74295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 medicine that is suitable individually may interact with another medicine. The proposed system will check available interaction evidence for candidate combinations.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5850" y="5715000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Patient-specific context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5850" y="6405563"/>
            <a:ext cx="74295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Diagnoses, previous treatments and documented allergies can influence medicine selection. The project will study how to include this context in recommendations.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2650" y="5715000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Transparent decision support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2650" y="6405563"/>
            <a:ext cx="742950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Clinicians need clear suggestions and reasons for warnings. The proposed interface will show candidate medicines, confidence and uncertainty for human review.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5850" y="9063037"/>
            <a:ext cx="16116300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Proposed idea: combine patient context with constrained medicine-set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09638"/>
            <a:ext cx="1611630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Project objectives and intended 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5850" y="2528888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History-aware recommendation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5850" y="3219450"/>
            <a:ext cx="742950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Develop an EHR model that uses available diagnoses, previous medicines and visit history to rank candidate medicine sets.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2650" y="2528888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Interaction-aware optimization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2650" y="3219450"/>
            <a:ext cx="742950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Map medicines to common ingredient identifiers. Use drug-pair evidence to penalize interactions while limiting redundant medicines.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5850" y="5786438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Measurable 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5850" y="6477000"/>
            <a:ext cx="742950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Compare recommendation agreement, recorded DDI rate and medicine count. Use patient-separated testing and component ablations.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2650" y="5786438"/>
            <a:ext cx="7429500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Clinician-facing output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2650" y="6477000"/>
            <a:ext cx="742950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Design an interface that presents suggestions, confidence and interaction warnings. Flag missing safety information and uncertain cases for review.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5850" y="9153525"/>
            <a:ext cx="1611630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Expected deliverables: data pipeline, recommendation model, optimizer and application demo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09638"/>
            <a:ext cx="1611630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Research foundation and proposed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04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85850" y="2443162"/>
          <a:ext cx="16097250" cy="4324350"/>
        </p:xfrm>
        <a:graphic>
          <a:graphicData uri="http://schemas.openxmlformats.org/drawingml/2006/table">
            <a:tbl>
              <a:tblPr/>
              <a:tblGrid>
                <a:gridCol w="3896331"/>
                <a:gridCol w="6128900"/>
                <a:gridCol w="6072019"/>
              </a:tblGrid>
              <a:tr h="1207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Reference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Main idea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How we will use it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</a:tr>
              <a:tr h="15584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GAMENet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Shang et al., 2019</a:t>
                      </a:r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Patient history with graph memory for medication combinations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Guide a history-aware comparison model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5584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SafeDrug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Yang et al., 2021</a:t>
                      </a:r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Molecular representations with a controllable DDI penalty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Guide interaction-aware evaluation and safety objectives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85850" y="7262813"/>
            <a:ext cx="16116300" cy="64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Research question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5850" y="7934325"/>
            <a:ext cx="16116300" cy="105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Can patient history and mapped interaction evidence reduce recorded DDIs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while preserving medication agreement and avoiding unnecessary medicines?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5850" y="9367838"/>
            <a:ext cx="16116300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Core scope: comparative models and DDI constraints. Generative RL is a later extension.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09638"/>
            <a:ext cx="1611630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Datasets and their planned use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05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85850" y="2486025"/>
          <a:ext cx="16097250" cy="5505450"/>
        </p:xfrm>
        <a:graphic>
          <a:graphicData uri="http://schemas.openxmlformats.org/drawingml/2006/table">
            <a:tbl>
              <a:tblPr/>
              <a:tblGrid>
                <a:gridCol w="3227982"/>
                <a:gridCol w="6271102"/>
                <a:gridCol w="6598166"/>
              </a:tblGrid>
              <a:tr h="11767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Dataset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Relevant information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Planned use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</a:tr>
              <a:tr h="144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MIMIC-IV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Diagnoses, procedures, medicines and visit history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Build patient sequences and evaluate recommendations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44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TwoSIDES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Reported drug-pair adverse-event associations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Create a mapped interaction graph and DDI lookup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44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eICU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Clinical records from multiple hospitals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External testing on comparable features and medicines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85850" y="8496300"/>
            <a:ext cx="16116300" cy="50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MIMIC-III is optional for comparison with published methods. Final cohorts are not yet defined.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5850" y="9324975"/>
            <a:ext cx="16116300" cy="50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Access: MIMIC and eICU require credentialing, training and a data-use agreement.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04540">
            <a:off x="4186037" y="6762750"/>
            <a:ext cx="1029100" cy="19050"/>
          </a:xfrm>
          <a:prstGeom prst="line">
            <a:avLst/>
          </a:prstGeom>
          <a:ln cap="rnd" w="19050">
            <a:solidFill>
              <a:srgbClr val="557B6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" id="3"/>
          <p:cNvSpPr/>
          <p:nvPr/>
        </p:nvSpPr>
        <p:spPr>
          <a:xfrm rot="9009840">
            <a:off x="4537853" y="4419600"/>
            <a:ext cx="2239994" cy="19050"/>
          </a:xfrm>
          <a:prstGeom prst="line">
            <a:avLst/>
          </a:prstGeom>
          <a:ln cap="rnd" w="19050">
            <a:solidFill>
              <a:srgbClr val="557B6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 rot="1790160">
            <a:off x="2623328" y="4419600"/>
            <a:ext cx="2239994" cy="19050"/>
          </a:xfrm>
          <a:prstGeom prst="line">
            <a:avLst/>
          </a:prstGeom>
          <a:ln cap="rnd" w="19050">
            <a:solidFill>
              <a:srgbClr val="557B6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" id="5"/>
          <p:cNvSpPr txBox="true"/>
          <p:nvPr/>
        </p:nvSpPr>
        <p:spPr>
          <a:xfrm rot="0">
            <a:off x="1085850" y="909638"/>
            <a:ext cx="161163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Dataset intersection and harmonization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5134" y="2589609"/>
            <a:ext cx="3421856" cy="1307306"/>
            <a:chOff x="0" y="0"/>
            <a:chExt cx="4562475" cy="17430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62475" cy="1743075"/>
            </a:xfrm>
            <a:custGeom>
              <a:avLst/>
              <a:gdLst/>
              <a:ahLst/>
              <a:cxnLst/>
              <a:rect r="r" b="b" t="t" l="l"/>
              <a:pathLst>
                <a:path h="1743075" w="4562475">
                  <a:moveTo>
                    <a:pt x="0" y="0"/>
                  </a:moveTo>
                  <a:lnTo>
                    <a:pt x="4562475" y="0"/>
                  </a:lnTo>
                  <a:lnTo>
                    <a:pt x="4562475" y="1743075"/>
                  </a:lnTo>
                  <a:lnTo>
                    <a:pt x="0" y="1743075"/>
                  </a:lnTo>
                  <a:close/>
                </a:path>
              </a:pathLst>
            </a:custGeom>
            <a:solidFill>
              <a:srgbClr val="FCFCF8"/>
            </a:solidFill>
            <a:ln w="21432" cap="sq">
              <a:solidFill>
                <a:srgbClr val="C7D5C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562475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MIMIC-IV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Medicine records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04184" y="2589609"/>
            <a:ext cx="3421856" cy="1307306"/>
            <a:chOff x="0" y="0"/>
            <a:chExt cx="4562475" cy="1743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2475" cy="1743075"/>
            </a:xfrm>
            <a:custGeom>
              <a:avLst/>
              <a:gdLst/>
              <a:ahLst/>
              <a:cxnLst/>
              <a:rect r="r" b="b" t="t" l="l"/>
              <a:pathLst>
                <a:path h="1743075" w="4562475">
                  <a:moveTo>
                    <a:pt x="0" y="0"/>
                  </a:moveTo>
                  <a:lnTo>
                    <a:pt x="4562475" y="0"/>
                  </a:lnTo>
                  <a:lnTo>
                    <a:pt x="4562475" y="1743075"/>
                  </a:lnTo>
                  <a:lnTo>
                    <a:pt x="0" y="1743075"/>
                  </a:lnTo>
                  <a:close/>
                </a:path>
              </a:pathLst>
            </a:custGeom>
            <a:solidFill>
              <a:srgbClr val="FCFCF8"/>
            </a:solidFill>
            <a:ln w="21432" cap="sq">
              <a:solidFill>
                <a:srgbClr val="C7D5C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562475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TwoSIDES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Drug pairs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5134" y="4961334"/>
            <a:ext cx="7250906" cy="1321594"/>
            <a:chOff x="0" y="0"/>
            <a:chExt cx="9667875" cy="1762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67875" cy="1762125"/>
            </a:xfrm>
            <a:custGeom>
              <a:avLst/>
              <a:gdLst/>
              <a:ahLst/>
              <a:cxnLst/>
              <a:rect r="r" b="b" t="t" l="l"/>
              <a:pathLst>
                <a:path h="1762125" w="9667875">
                  <a:moveTo>
                    <a:pt x="0" y="0"/>
                  </a:moveTo>
                  <a:lnTo>
                    <a:pt x="9667875" y="0"/>
                  </a:lnTo>
                  <a:lnTo>
                    <a:pt x="9667875" y="1762125"/>
                  </a:lnTo>
                  <a:lnTo>
                    <a:pt x="0" y="1762125"/>
                  </a:lnTo>
                  <a:close/>
                </a:path>
              </a:pathLst>
            </a:custGeom>
            <a:solidFill>
              <a:srgbClr val="FCFCF8"/>
            </a:solidFill>
            <a:ln w="21432" cap="sq">
              <a:solidFill>
                <a:srgbClr val="C7D5C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667875" cy="177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Normalize names and products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to common ingredient identifiers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5134" y="7261622"/>
            <a:ext cx="7250906" cy="1335881"/>
            <a:chOff x="0" y="0"/>
            <a:chExt cx="9667875" cy="17811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67875" cy="1781175"/>
            </a:xfrm>
            <a:custGeom>
              <a:avLst/>
              <a:gdLst/>
              <a:ahLst/>
              <a:cxnLst/>
              <a:rect r="r" b="b" t="t" l="l"/>
              <a:pathLst>
                <a:path h="1781175" w="9667875">
                  <a:moveTo>
                    <a:pt x="0" y="0"/>
                  </a:moveTo>
                  <a:lnTo>
                    <a:pt x="9667875" y="0"/>
                  </a:lnTo>
                  <a:lnTo>
                    <a:pt x="9667875" y="1781175"/>
                  </a:lnTo>
                  <a:lnTo>
                    <a:pt x="0" y="1781175"/>
                  </a:lnTo>
                  <a:close/>
                </a:path>
              </a:pathLst>
            </a:custGeom>
            <a:solidFill>
              <a:srgbClr val="FCFCF8"/>
            </a:solidFill>
            <a:ln w="21432" cap="sq">
              <a:solidFill>
                <a:srgbClr val="C7D5C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667875" cy="179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Shared drug vocabulary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63E3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and mapped interaction edges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15475" y="2628900"/>
            <a:ext cx="768667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Common vocabulary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5475" y="3319463"/>
            <a:ext cx="7686675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Use verified RxNorm ingredient mappings. Apply a consistent ATC grouping only when a benchmark needs drug classes.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15475" y="5715000"/>
            <a:ext cx="768667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Coverage and exclusions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15475" y="6405563"/>
            <a:ext cx="7686675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Keep matching ingredient IDs. Measure unmapped medicines and excluded records. Preserve ingredient-level DDI evidence.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5850" y="9072562"/>
            <a:ext cx="16116300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Intersection = mapped EHR drug IDs ∩ mapped DDI drug IDs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09638"/>
            <a:ext cx="1611630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Proposed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07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85850" y="2343150"/>
          <a:ext cx="16097250" cy="6038850"/>
        </p:xfrm>
        <a:graphic>
          <a:graphicData uri="http://schemas.openxmlformats.org/drawingml/2006/table">
            <a:tbl>
              <a:tblPr/>
              <a:tblGrid>
                <a:gridCol w="4155966"/>
                <a:gridCol w="11941284"/>
              </a:tblGrid>
              <a:tr h="11742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Stage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Method and expected output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</a:tr>
              <a:tr h="12161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1. Prepare data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Order visits and encode diagnoses and medicines. Fit preprocessing on training patients only.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2161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2. Candidates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Train an EHR multi-label model to estimate candidate medicine probabilities from patient context.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2161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3. Optimization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Apply allergy and DDI constraints. Balance model relevance, therapeutic coverage and medicine count.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2161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4. Review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Show medicines, confidence and warnings. Flag uncertainty and missing safety data for clinician review.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85850" y="9063037"/>
            <a:ext cx="16116300" cy="9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Planned objective: preserve treatment relevance while penalizing interactions and redundancy.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09638"/>
            <a:ext cx="161163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Evaluation design and success measures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08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85850" y="2400300"/>
          <a:ext cx="16097250" cy="4953000"/>
        </p:xfrm>
        <a:graphic>
          <a:graphicData uri="http://schemas.openxmlformats.org/drawingml/2006/table">
            <a:tbl>
              <a:tblPr/>
              <a:tblGrid>
                <a:gridCol w="5294586"/>
                <a:gridCol w="10802664"/>
              </a:tblGrid>
              <a:tr h="10017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Measure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Interpretation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</a:tr>
              <a:tr h="987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Jaccard similarity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Shared medicines divided by the union of both sets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987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Precision / recall / PR-AUC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Measure correct suggestions, omissions and ranking quality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987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DDI rate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Recorded interaction pairs divided by all predicted pairs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987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Drug count / coverage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Medicine burden and target symptom coverage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85850" y="8086725"/>
            <a:ext cx="161163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557B6C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Experiment protocol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5850" y="8720137"/>
            <a:ext cx="16116300" cy="90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Use patient-separated train, validation and test sets. Compare all models on the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same cohort and vocabulary. Test history and DDI components through ablations.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09638"/>
            <a:ext cx="16116300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Team responsibilities and deliverables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09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85850" y="2371725"/>
          <a:ext cx="16097250" cy="5810250"/>
        </p:xfrm>
        <a:graphic>
          <a:graphicData uri="http://schemas.openxmlformats.org/drawingml/2006/table">
            <a:tbl>
              <a:tblPr/>
              <a:tblGrid>
                <a:gridCol w="3270643"/>
                <a:gridCol w="7622019"/>
                <a:gridCol w="5204588"/>
              </a:tblGrid>
              <a:tr h="1173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Member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Proposed responsibility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 b="true">
                          <a:solidFill>
                            <a:srgbClr val="263E38"/>
                          </a:solidFill>
                          <a:latin typeface="DejaVu Sans Bold"/>
                          <a:ea typeface="DejaVu Sans Bold"/>
                          <a:cs typeface="DejaVu Sans Bold"/>
                          <a:sym typeface="DejaVu Sans Bold"/>
                        </a:rPr>
                        <a:t>Deliverable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DD"/>
                    </a:solidFill>
                  </a:tcPr>
                </a:tc>
              </a:tr>
              <a:tr h="11592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Manjushwar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Develop recommendation models.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Integrate experiment runs.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Model pipeline and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comparison results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1592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Tarun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Acquire and clean datasets.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Map medicine identifiers.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Processed cohorts and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mapping-coverage report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1592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Lalit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Build the interaction graph.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Develop DDI-aware optimization.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DDI lookup and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optimization module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  <a:tr h="11592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Harshit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Develop the UI and API.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Test and document workflows.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Application demo and</a:t>
                      </a:r>
                      <a:endParaRPr lang="en-US" sz="1100"/>
                    </a:p>
                    <a:p>
                      <a:pPr algn="l">
                        <a:lnSpc>
                          <a:spcPts val="3104"/>
                        </a:lnSpc>
                      </a:pPr>
                      <a:r>
                        <a:rPr lang="en-US" sz="2587">
                          <a:solidFill>
                            <a:srgbClr val="263E38"/>
                          </a:solidFill>
                          <a:latin typeface="DejaVu Sans Light"/>
                          <a:ea typeface="DejaVu Sans Light"/>
                          <a:cs typeface="DejaVu Sans Light"/>
                          <a:sym typeface="DejaVu Sans Light"/>
                        </a:rPr>
                        <a:t>reproducible documentation</a:t>
                      </a:r>
                    </a:p>
                  </a:txBody>
                  <a:tcPr marL="152400" marR="152400" marT="152400" marB="1524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7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85850" y="8734425"/>
            <a:ext cx="16116300" cy="53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Milestones: dataset mapping, model development, DDI experiments and final report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F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16375" y="9463087"/>
            <a:ext cx="6429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5850" y="3033713"/>
            <a:ext cx="16116300" cy="151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0"/>
              </a:lnSpc>
            </a:pPr>
            <a:r>
              <a:rPr lang="en-US" sz="8775" b="true">
                <a:solidFill>
                  <a:srgbClr val="263E38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4900612"/>
            <a:ext cx="15716250" cy="66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>
                <a:solidFill>
                  <a:srgbClr val="557B6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Questions and discussion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6543675"/>
            <a:ext cx="15716250" cy="107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Manjushwar, Tarun, Lalit and Harshit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263E3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Under the guidance of Dr. Armaan Garg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8753475"/>
            <a:ext cx="15716250" cy="5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3756D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Proposed decision-support system with recommendations subject to clinician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DAHX0U0M0ec</dc:identifier>
  <dcterms:modified xsi:type="dcterms:W3CDTF">2011-08-01T06:04:30Z</dcterms:modified>
  <cp:revision>1</cp:revision>
  <dc:title>AI_Medicine_Prescription_Major_Project_Expanded.pptx</dc:title>
</cp:coreProperties>
</file>